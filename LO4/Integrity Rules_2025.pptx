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91" r:id="rId3"/>
    <p:sldId id="392" r:id="rId4"/>
    <p:sldId id="393" r:id="rId5"/>
    <p:sldId id="394" r:id="rId6"/>
    <p:sldId id="257" r:id="rId7"/>
    <p:sldId id="258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1" autoAdjust="0"/>
    <p:restoredTop sz="94660"/>
  </p:normalViewPr>
  <p:slideViewPr>
    <p:cSldViewPr snapToGrid="0">
      <p:cViewPr>
        <p:scale>
          <a:sx n="63" d="100"/>
          <a:sy n="63" d="100"/>
        </p:scale>
        <p:origin x="61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8D78E-A906-76D8-BDE3-2F8CDB141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61328-02AC-16C2-40B6-2A64382B5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1CC31-C4B2-84CB-4C18-F0FD765A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E737-4EDF-41BE-8240-6E60B5D5CC47}" type="datetimeFigureOut">
              <a:rPr lang="en-CA" smtClean="0"/>
              <a:t>2025-09-16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1CB89-C458-A039-880C-FCAC5D3E8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54404-64AA-D80E-C8EF-5DD4A3DBB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A643-052C-4AC2-81BB-52FCBFBEF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9637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1EC91-3AC1-1690-3DA1-D68E40875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0E2FF-4C24-D31A-F9DF-A71272585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0821F-4260-2EFE-ADC8-16B86AD19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E737-4EDF-41BE-8240-6E60B5D5CC47}" type="datetimeFigureOut">
              <a:rPr lang="en-CA" smtClean="0"/>
              <a:t>2025-09-16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68F0B-EDFF-78F3-C30D-3A706C2CC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2B849-C368-5F7F-2B5B-9D145F771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A643-052C-4AC2-81BB-52FCBFBEF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6684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8F438-F228-E787-B31A-8D5EB9E7A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809AB-9B51-684A-DCEC-F79091730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0E193-A8F9-A60D-9756-4F49B10FD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E737-4EDF-41BE-8240-6E60B5D5CC47}" type="datetimeFigureOut">
              <a:rPr lang="en-CA" smtClean="0"/>
              <a:t>2025-09-16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F59-663B-6D21-C098-4C2AC7D15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184EB-A995-0A9A-79B5-C2B9B3E0E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A643-052C-4AC2-81BB-52FCBFBEF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3234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B6771-0A0F-490B-D878-9AF5ABF9A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7F61E-07EA-931A-F530-1AA3ABD0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2EBA6-D9CE-015C-3130-C46243FEC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0164E-91B8-76E6-CA6F-BC787CDD4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E737-4EDF-41BE-8240-6E60B5D5CC47}" type="datetimeFigureOut">
              <a:rPr lang="en-CA" smtClean="0"/>
              <a:t>2025-09-16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341C5-2586-A81C-5510-6C704123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14636-1EB7-95D7-1B82-8EE8F3E63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A643-052C-4AC2-81BB-52FCBFBEF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45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25EB2-E2D6-AFD2-F1F6-5B9B5B05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65D9E-321E-0BB0-E44B-3BE9E0C55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91C57F-041E-D15B-7215-DC3B4216C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BE0A5D-10AE-C8AC-7BBB-0FCE1CAFF2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F2017F-F35B-5F4B-7362-55E0D94F41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22B3A-067D-257F-4050-07414BCE2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E737-4EDF-41BE-8240-6E60B5D5CC47}" type="datetimeFigureOut">
              <a:rPr lang="en-CA" smtClean="0"/>
              <a:t>2025-09-16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B7E6A-2214-58F7-E71B-A13D3EA13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B87839-C45B-ABDB-851B-6789E9712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A643-052C-4AC2-81BB-52FCBFBEF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9037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91815-BE0C-257E-ECF7-4058EC24E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99BD56-DFD5-9AD5-03AD-EA34CE11C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E737-4EDF-41BE-8240-6E60B5D5CC47}" type="datetimeFigureOut">
              <a:rPr lang="en-CA" smtClean="0"/>
              <a:t>2025-09-16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10D7E3-B60F-D30A-F707-B29BDA17C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533BC-9C67-EA23-398E-A90A6C747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A643-052C-4AC2-81BB-52FCBFBEF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892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1D698B-7F9F-73C1-1F5A-73D0835B8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E737-4EDF-41BE-8240-6E60B5D5CC47}" type="datetimeFigureOut">
              <a:rPr lang="en-CA" smtClean="0"/>
              <a:t>2025-09-16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FD44E4-39D2-8A91-3A79-0CC4030C5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0414F-4C6F-80BF-5B9E-30E71C5E3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A643-052C-4AC2-81BB-52FCBFBEF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5352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6E751-D37D-563C-E873-5DF029A16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B1FB6-1504-02F1-66ED-5CFEB423A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F44BDB-0FA7-AAAF-8620-4F308162B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7FD26-81A5-35A0-841D-DEACAD271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E737-4EDF-41BE-8240-6E60B5D5CC47}" type="datetimeFigureOut">
              <a:rPr lang="en-CA" smtClean="0"/>
              <a:t>2025-09-16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51041-79E6-F3D9-2C85-6CC7EDF3C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4B1D86-50B9-CFF9-B93B-E888A8BB0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A643-052C-4AC2-81BB-52FCBFBEF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4856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A8EF3-0F94-E7B4-0980-8960410B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867E3D-29E4-C3F8-50F4-E2F0178291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4079A-E77F-102D-8314-401BA85D1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36A13-EFD4-7C4C-7F02-A768EDDFB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E737-4EDF-41BE-8240-6E60B5D5CC47}" type="datetimeFigureOut">
              <a:rPr lang="en-CA" smtClean="0"/>
              <a:t>2025-09-16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AF749-61C2-B018-E305-48F5F6C50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79B92-54DE-C7C0-EC3E-0DDE8DBCF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A643-052C-4AC2-81BB-52FCBFBEF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2994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DC2B7-CD01-D028-C56C-52551E596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47300-5A37-DEAE-F6FE-E85747AE0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EE4B5-DC8D-A152-8C9C-00B8963D5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E737-4EDF-41BE-8240-6E60B5D5CC47}" type="datetimeFigureOut">
              <a:rPr lang="en-CA" smtClean="0"/>
              <a:t>2025-09-16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3FA6A-DF99-70CC-75DE-D125D9D7C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ADF87-BA2C-9B2F-4CEA-BDE38725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A643-052C-4AC2-81BB-52FCBFBEF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4117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99874C-6392-2483-4D3A-54E270301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FB13C-6FEE-54B9-B96E-40EF9723A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89B9F-B03F-DEE6-852F-C8655C26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E737-4EDF-41BE-8240-6E60B5D5CC47}" type="datetimeFigureOut">
              <a:rPr lang="en-CA" smtClean="0"/>
              <a:t>2025-09-16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43157-4FD7-3F62-CC85-AF23C6063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8A817-95F6-6B34-03AA-3C12A2CFE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F6A643-052C-4AC2-81BB-52FCBFBEF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9451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FFCC4C-0519-57C3-7AA8-6B9ABB73A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261F5-F56D-6DEB-85C5-4FA561685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B04BB-A914-F1F4-E1A3-BEF8436384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5E737-4EDF-41BE-8240-6E60B5D5CC47}" type="datetimeFigureOut">
              <a:rPr lang="en-CA" smtClean="0"/>
              <a:t>2025-09-16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7004F-6D5D-45A3-DEE5-C174B62B8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76D2A-FA6C-9C97-A060-3414B28A8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F6A643-052C-4AC2-81BB-52FCBFBEF7D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845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00FCB-696F-4010-5BBB-D8206BCBF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2443"/>
            <a:ext cx="9144000" cy="2387600"/>
          </a:xfrm>
        </p:spPr>
        <p:txBody>
          <a:bodyPr/>
          <a:lstStyle/>
          <a:p>
            <a:r>
              <a:rPr lang="en-CA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Integrity Rules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0A9A77-26EA-482E-6270-54CDC791D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59238"/>
            <a:ext cx="9144000" cy="1655762"/>
          </a:xfrm>
        </p:spPr>
        <p:txBody>
          <a:bodyPr/>
          <a:lstStyle/>
          <a:p>
            <a:r>
              <a:rPr lang="en-US" altLang="zh-CN" dirty="0"/>
              <a:t>Hongyu Guo</a:t>
            </a:r>
          </a:p>
          <a:p>
            <a:r>
              <a:rPr lang="en-US" dirty="0"/>
              <a:t>September 2025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211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FCA68B2-6326-F6ED-4C5F-D8B1D8FB7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2662" y="240323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Keys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E91809AF-2BB0-E041-DA98-E452A24D80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2662" y="1524000"/>
            <a:ext cx="9882553" cy="4953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buFont typeface="Monotype Sorts"/>
              <a:buNone/>
            </a:pPr>
            <a:r>
              <a:rPr lang="en-US" altLang="en-US" b="1" dirty="0"/>
              <a:t>Primary Key:  </a:t>
            </a:r>
            <a:r>
              <a:rPr lang="en-US" altLang="en-US" dirty="0"/>
              <a:t>a minimal set of attributes that form a candidate key</a:t>
            </a:r>
            <a:endParaRPr lang="en-US" altLang="en-US" i="1" dirty="0"/>
          </a:p>
          <a:p>
            <a:pPr eaLnBrk="1" hangingPunct="1">
              <a:lnSpc>
                <a:spcPct val="150000"/>
              </a:lnSpc>
              <a:buFont typeface="Monotype Sorts"/>
              <a:buNone/>
            </a:pPr>
            <a:r>
              <a:rPr lang="en-US" altLang="en-US" b="1" dirty="0"/>
              <a:t>Candidate Key: </a:t>
            </a:r>
            <a:r>
              <a:rPr lang="en-US" altLang="en-US" dirty="0"/>
              <a:t>Any attribute or collection of attributes that functionally determine all attributes in a record is a Candidate Key</a:t>
            </a:r>
            <a:r>
              <a:rPr lang="en-US" altLang="en-US" b="1" dirty="0"/>
              <a:t>.</a:t>
            </a:r>
          </a:p>
          <a:p>
            <a:pPr eaLnBrk="1" hangingPunct="1">
              <a:lnSpc>
                <a:spcPct val="150000"/>
              </a:lnSpc>
              <a:buFont typeface="Monotype Sorts"/>
              <a:buNone/>
            </a:pPr>
            <a:r>
              <a:rPr lang="en-US" altLang="en-US" dirty="0"/>
              <a:t>Note:  since no two rows in a relational table can be duplicates, the entire record is always a candidate key.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E4F3BF67-0418-DCBF-78E9-507B4AD185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Primary Key (C)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2CB4EE09-FC9A-21AC-79D2-D230FA2500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C determines all attributes</a:t>
            </a:r>
          </a:p>
          <a:p>
            <a:pPr eaLnBrk="1" hangingPunct="1"/>
            <a:r>
              <a:rPr lang="en-US" altLang="en-US" sz="3600" dirty="0"/>
              <a:t>No subset of the attributes in C is a candidate key</a:t>
            </a:r>
          </a:p>
          <a:p>
            <a:pPr eaLnBrk="1" hangingPunct="1"/>
            <a:endParaRPr lang="en-US" altLang="en-US" sz="3600" dirty="0"/>
          </a:p>
          <a:p>
            <a:pPr eaLnBrk="1" hangingPunct="1">
              <a:buFont typeface="Monotype Sorts"/>
              <a:buNone/>
            </a:pPr>
            <a:r>
              <a:rPr lang="en-US" altLang="en-US" sz="3600" i="1" dirty="0"/>
              <a:t>A key consisting of more than one attribute is called a “composite key.”</a:t>
            </a:r>
            <a:endParaRPr lang="en-US" alt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64AE69CB-6C75-6EAD-CC97-1C3B66D51B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Good Primary Keys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790BD4C1-B53F-AB72-FC9D-4A02A7D965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Do not change over the life of the database</a:t>
            </a:r>
          </a:p>
          <a:p>
            <a:pPr eaLnBrk="1" hangingPunct="1"/>
            <a:r>
              <a:rPr lang="en-US" altLang="en-US" sz="3600" dirty="0"/>
              <a:t>Are not “intelligent keys”</a:t>
            </a:r>
          </a:p>
          <a:p>
            <a:pPr eaLnBrk="1" hangingPunct="1"/>
            <a:r>
              <a:rPr lang="en-US" altLang="en-US" sz="3600" dirty="0"/>
              <a:t>Are not too long</a:t>
            </a:r>
          </a:p>
          <a:p>
            <a:pPr eaLnBrk="1" hangingPunct="1"/>
            <a:r>
              <a:rPr lang="en-US" altLang="en-US" sz="3600" dirty="0"/>
              <a:t>Do not consist of too many attributes (3 or fewer is good)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C40A59A-1411-86A3-52D4-033EEA74CD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Foreign Keys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4140171-6363-F09A-12FE-56A3FBDA4D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885951"/>
            <a:ext cx="8178800" cy="4094163"/>
          </a:xfrm>
        </p:spPr>
        <p:txBody>
          <a:bodyPr/>
          <a:lstStyle/>
          <a:p>
            <a:pPr eaLnBrk="1" hangingPunct="1">
              <a:buFont typeface="Monotype Sorts"/>
              <a:buNone/>
            </a:pPr>
            <a:r>
              <a:rPr lang="en-US" altLang="en-US"/>
              <a:t>A value in the “child” table that matches with the related value in the “parent” table.</a:t>
            </a:r>
          </a:p>
          <a:p>
            <a:pPr eaLnBrk="1" hangingPunct="1">
              <a:buFont typeface="Monotype Sorts"/>
              <a:buNone/>
            </a:pPr>
            <a:r>
              <a:rPr lang="en-US" altLang="en-US" sz="3000"/>
              <a:t>SalesRep(</a:t>
            </a:r>
            <a:r>
              <a:rPr lang="en-US" altLang="en-US" sz="3000">
                <a:solidFill>
                  <a:srgbClr val="CC3300"/>
                </a:solidFill>
              </a:rPr>
              <a:t>SalesRepNumber</a:t>
            </a:r>
            <a:r>
              <a:rPr lang="en-US" altLang="en-US" sz="3000"/>
              <a:t>, Name)</a:t>
            </a:r>
          </a:p>
          <a:p>
            <a:pPr eaLnBrk="1" hangingPunct="1">
              <a:buFont typeface="Monotype Sorts"/>
              <a:buNone/>
            </a:pPr>
            <a:r>
              <a:rPr lang="en-US" altLang="en-US" sz="3000"/>
              <a:t>			[ 	03 	| Mary Jones ]</a:t>
            </a:r>
          </a:p>
          <a:p>
            <a:pPr eaLnBrk="1" hangingPunct="1">
              <a:buFont typeface="Monotype Sorts"/>
              <a:buNone/>
            </a:pPr>
            <a:endParaRPr lang="en-US" altLang="en-US" sz="3000"/>
          </a:p>
          <a:p>
            <a:pPr eaLnBrk="1" hangingPunct="1">
              <a:buFont typeface="Monotype Sorts"/>
              <a:buNone/>
            </a:pPr>
            <a:r>
              <a:rPr lang="en-US" altLang="en-US" sz="3000"/>
              <a:t>			[ 124			|  	03	 ]</a:t>
            </a:r>
          </a:p>
          <a:p>
            <a:pPr eaLnBrk="1" hangingPunct="1">
              <a:buFont typeface="Monotype Sorts"/>
              <a:buNone/>
            </a:pPr>
            <a:r>
              <a:rPr lang="en-US" altLang="en-US" sz="3000"/>
              <a:t>Customer(CustomerNumber, </a:t>
            </a:r>
            <a:r>
              <a:rPr lang="en-US" altLang="en-US" sz="3000">
                <a:solidFill>
                  <a:srgbClr val="CC3300"/>
                </a:solidFill>
              </a:rPr>
              <a:t>SalesRepNumber</a:t>
            </a:r>
            <a:r>
              <a:rPr lang="en-US" altLang="en-US" sz="3000"/>
              <a:t>)</a:t>
            </a:r>
            <a:endParaRPr lang="en-US" altLang="en-US"/>
          </a:p>
        </p:txBody>
      </p:sp>
      <p:grpSp>
        <p:nvGrpSpPr>
          <p:cNvPr id="29700" name="Group 7">
            <a:extLst>
              <a:ext uri="{FF2B5EF4-FFF2-40B4-BE49-F238E27FC236}">
                <a16:creationId xmlns:a16="http://schemas.microsoft.com/office/drawing/2014/main" id="{44854EB5-D260-29A2-8861-B438D66203A1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191000"/>
            <a:ext cx="2895600" cy="609600"/>
            <a:chOff x="2352" y="2640"/>
            <a:chExt cx="1824" cy="384"/>
          </a:xfrm>
        </p:grpSpPr>
        <p:sp>
          <p:nvSpPr>
            <p:cNvPr id="29701" name="Line 4">
              <a:extLst>
                <a:ext uri="{FF2B5EF4-FFF2-40B4-BE49-F238E27FC236}">
                  <a16:creationId xmlns:a16="http://schemas.microsoft.com/office/drawing/2014/main" id="{28A9D68F-898A-FB5E-1E58-A363F5E9A4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6" y="2880"/>
              <a:ext cx="0" cy="14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9702" name="Line 5">
              <a:extLst>
                <a:ext uri="{FF2B5EF4-FFF2-40B4-BE49-F238E27FC236}">
                  <a16:creationId xmlns:a16="http://schemas.microsoft.com/office/drawing/2014/main" id="{6A687754-C446-BBCB-AE6C-2F126AEF83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2" y="2880"/>
              <a:ext cx="182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29703" name="Line 6">
              <a:extLst>
                <a:ext uri="{FF2B5EF4-FFF2-40B4-BE49-F238E27FC236}">
                  <a16:creationId xmlns:a16="http://schemas.microsoft.com/office/drawing/2014/main" id="{ADD55344-6234-8AAE-9CD1-FC6921A9D6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2" y="2640"/>
              <a:ext cx="0" cy="24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CD1B0-BB14-92FA-E146-CE95B4456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4.1 Fundamental Integrity Rules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56B26-03DB-B5B0-72F9-5F459CA43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667250"/>
          </a:xfrm>
        </p:spPr>
        <p:txBody>
          <a:bodyPr>
            <a:normAutofit fontScale="85000"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sz="3200" b="1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Entity Integrity Rule:</a:t>
            </a:r>
            <a:r>
              <a:rPr lang="en-US" sz="32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 </a:t>
            </a:r>
          </a:p>
          <a:p>
            <a:pPr lvl="1">
              <a:lnSpc>
                <a:spcPct val="150000"/>
              </a:lnSpc>
            </a:pPr>
            <a:r>
              <a:rPr lang="en-US" sz="28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The entity integrity rule states that no component of the primary key in a base relation is allowed to accept nulls. </a:t>
            </a:r>
          </a:p>
          <a:p>
            <a:pPr lvl="1">
              <a:lnSpc>
                <a:spcPct val="150000"/>
              </a:lnSpc>
            </a:pPr>
            <a:r>
              <a:rPr lang="en-US" sz="28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Put another way, in a relational model, we never record information about something that we cannot identify. </a:t>
            </a:r>
          </a:p>
          <a:p>
            <a:pPr lvl="1">
              <a:lnSpc>
                <a:spcPct val="150000"/>
              </a:lnSpc>
            </a:pPr>
            <a:r>
              <a:rPr lang="en-US" sz="28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Three points are worth noting here: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The rule applies to base relations.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The rule applies to primary key, not alternate keys.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The primary key must be wholly non-null.</a:t>
            </a:r>
          </a:p>
          <a:p>
            <a:pPr>
              <a:lnSpc>
                <a:spcPct val="150000"/>
              </a:lnSpc>
            </a:pP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804238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44CC7-5037-4AF4-EB29-C55D6879C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951" y="489098"/>
            <a:ext cx="10875579" cy="6006295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sz="3200" b="1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Referential Integrity Rule:</a:t>
            </a:r>
            <a:r>
              <a:rPr lang="en-US" sz="32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 </a:t>
            </a:r>
          </a:p>
          <a:p>
            <a:pPr lvl="1">
              <a:lnSpc>
                <a:spcPct val="150000"/>
              </a:lnSpc>
            </a:pPr>
            <a:r>
              <a:rPr lang="en-US" sz="28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The referential integrity rule states that the database must not contain unmatched foreign key values. </a:t>
            </a:r>
          </a:p>
          <a:p>
            <a:pPr lvl="2">
              <a:lnSpc>
                <a:spcPct val="150000"/>
              </a:lnSpc>
            </a:pPr>
            <a:r>
              <a:rPr lang="en-US" sz="24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By unmatched foreign key value, we mean a non-null foreign key value for which there is no match in the referenced (target) relation. </a:t>
            </a:r>
          </a:p>
          <a:p>
            <a:pPr lvl="1">
              <a:lnSpc>
                <a:spcPct val="150000"/>
              </a:lnSpc>
            </a:pPr>
            <a:r>
              <a:rPr lang="en-US" sz="28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Put another way, </a:t>
            </a:r>
            <a:r>
              <a:rPr lang="en-US" sz="2800" b="0" i="0" dirty="0">
                <a:solidFill>
                  <a:srgbClr val="3D3B49"/>
                </a:solidFill>
                <a:effectLst/>
                <a:highlight>
                  <a:srgbClr val="FFFF00"/>
                </a:highlight>
                <a:latin typeface="Noto serif" panose="02020600060500020200" pitchFamily="18" charset="0"/>
              </a:rPr>
              <a:t>if B references A then A must exist</a:t>
            </a:r>
            <a:r>
              <a:rPr lang="en-US" sz="28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. The following points should be noted: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The rule requires that foreign keys must match primary keys, not alternate keys.</a:t>
            </a:r>
          </a:p>
          <a:p>
            <a:pPr marL="1371600" lvl="2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Foreign key and referential integrity are defined in terms of each other. It is not possible to explain one without mentioning the other.</a:t>
            </a:r>
          </a:p>
          <a:p>
            <a:pPr>
              <a:lnSpc>
                <a:spcPct val="150000"/>
              </a:lnSpc>
            </a:pP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2394491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184AF-1761-679B-CF44-906F79FBF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Deletion of Referenced Tuples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EDBA4-9BBB-08F4-3969-8EEDF1AF8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1391"/>
            <a:ext cx="9425152" cy="3755368"/>
          </a:xfrm>
        </p:spPr>
        <p:txBody>
          <a:bodyPr/>
          <a:lstStyle/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Restrict</a:t>
            </a:r>
            <a:r>
              <a:rPr lang="en-US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 deletion to tuples that are not referenced.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Cascade</a:t>
            </a:r>
            <a:r>
              <a:rPr lang="en-US" b="0" i="0" dirty="0">
                <a:solidFill>
                  <a:srgbClr val="3D3B49"/>
                </a:solidFill>
                <a:effectLst/>
                <a:latin typeface="Noto serif" panose="02020600060500020200" pitchFamily="18" charset="0"/>
              </a:rPr>
              <a:t> deletion to all referencing tuples in referencing relations.</a:t>
            </a:r>
          </a:p>
          <a:p>
            <a:pPr>
              <a:lnSpc>
                <a:spcPct val="100000"/>
              </a:lnSpc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13340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409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Monotype Sorts</vt:lpstr>
      <vt:lpstr>Arial</vt:lpstr>
      <vt:lpstr>Calibri</vt:lpstr>
      <vt:lpstr>Calibri Light</vt:lpstr>
      <vt:lpstr>Noto serif</vt:lpstr>
      <vt:lpstr>Office Theme</vt:lpstr>
      <vt:lpstr>Integrity Rules</vt:lpstr>
      <vt:lpstr>Keys</vt:lpstr>
      <vt:lpstr>Primary Key (C)</vt:lpstr>
      <vt:lpstr>Good Primary Keys</vt:lpstr>
      <vt:lpstr>Foreign Keys</vt:lpstr>
      <vt:lpstr>4.1 Fundamental Integrity Rules</vt:lpstr>
      <vt:lpstr>PowerPoint Presentation</vt:lpstr>
      <vt:lpstr>Deletion of Referenced Tuples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Integrity Rules</dc:title>
  <dc:creator>Guo, Hongyu</dc:creator>
  <cp:lastModifiedBy>Guo, Hongyu</cp:lastModifiedBy>
  <cp:revision>5</cp:revision>
  <dcterms:created xsi:type="dcterms:W3CDTF">2023-09-19T16:06:45Z</dcterms:created>
  <dcterms:modified xsi:type="dcterms:W3CDTF">2025-09-16T16:56:02Z</dcterms:modified>
</cp:coreProperties>
</file>